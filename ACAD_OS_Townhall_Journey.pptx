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open with the product. Open with the human story. 'This started with my kids' holiday.' Warm, slow.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holiday + wife's ask. Relatable to every parent in the room. Keep it light and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article (shumer.dev, 'Something Big Is Happening'). It was literally written for non-tech people. The line that hooked me: your dreams just got closer - you can describe an app and have it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bomb. Be proud of it, laugh at it. I used Lovable, built aspir.lovable.app, and it died because I'd never heard of a database / Firebase. This is the most relatable slide for a tech room - they KNOW what a database is, so they'll love that I didn't.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core message here for the first time: I didn't know what a database was, and I still built this. If I can, you - actual engineers - can do something massive. Say it with conviction.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on the desktop changed daily work. Be genuine here - this is the tool that took me from tinkerer to builder.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watermelon is your best laugh: 7 plus 5 is 12, but the app insisted on 2. Kids doing it RIGHT were told they were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Robot army: every bug becomes a permanent detector. Run-fix-rerun-until-zero. The key idea for a tech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aha - a math app became a platform. Slow down, let it breathe.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close. Callback to the holiday, the pen, the bomb. Then the mic-drop: if I can do this, you can do something massive. Then invite questions warmly.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6400800" cy="6400800"/>
          </a:xfrm>
          <a:prstGeom prst="ellipse">
            <a:avLst/>
          </a:prstGeom>
          <a:solidFill>
            <a:srgbClr val="2A214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97680"/>
            <a:ext cx="3840480" cy="3840480"/>
          </a:xfrm>
          <a:prstGeom prst="ellipse">
            <a:avLst/>
          </a:prstGeom>
          <a:solidFill>
            <a:srgbClr val="241C39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9601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FOUNDER'S JOURNEY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8412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can't code.</a:t>
            </a:r>
            <a:endParaRPr lang="en-US" sz="6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2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built it anyway.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holiday worksheet, one article, and an app that bombed turned into an operating system for learning.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Prakash</a:t>
            </a:r>
            <a:pPr indent="0" marL="0">
              <a:buNone/>
            </a:pPr>
            <a:r>
              <a:rPr lang="en-US" sz="160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  Founder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89720" y="2103120"/>
            <a:ext cx="2286000" cy="2286000"/>
          </a:xfrm>
          <a:prstGeom prst="ellipse">
            <a:avLst/>
          </a:prstGeom>
          <a:solidFill>
            <a:srgbClr val="FF6F0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6940" y="2720340"/>
            <a:ext cx="1051560" cy="1051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28800"/>
            <a:ext cx="2743200" cy="2743200"/>
          </a:xfrm>
          <a:prstGeom prst="ellipse">
            <a:avLst/>
          </a:prstGeom>
          <a:solidFill>
            <a:srgbClr val="FFC233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624" y="2569464"/>
            <a:ext cx="1261872" cy="1261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97680" y="13258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REALLY STARTED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251960" y="17373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began with a school holiday.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297680" y="2926080"/>
            <a:ext cx="7223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kids were home for the holidays. </a:t>
            </a:r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wife had one ask: </a:t>
            </a:r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them a daily maths assignment.”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HUMBLE BEGINNING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made them. By hand.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68680" y="2697480"/>
            <a:ext cx="2377440" cy="2377440"/>
          </a:xfrm>
          <a:prstGeom prst="ellipse">
            <a:avLst/>
          </a:prstGeom>
          <a:solidFill>
            <a:srgbClr val="14C4B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0589" y="3339389"/>
            <a:ext cx="1093622" cy="10936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49040" y="2743200"/>
            <a:ext cx="7589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a fresh worksheet. Just a dad with a pen.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was the whole “product.”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749040" y="443484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49040" y="4434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63640" y="443484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63640" y="4434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778240" y="443484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0" y="4434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749040" y="5440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starts somewhere small. This was mine.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554480"/>
            <a:ext cx="2468880" cy="2468880"/>
          </a:xfrm>
          <a:prstGeom prst="ellipse">
            <a:avLst/>
          </a:prstGeom>
          <a:solidFill>
            <a:srgbClr val="FF6F0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9158" y="2221078"/>
            <a:ext cx="1135685" cy="11356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5156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 READ ONE THING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14630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“Something Big Is Happening.”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77240" y="3154680"/>
            <a:ext cx="7955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2100" dirty="0">
                <a:solidFill>
                  <a:srgbClr val="D6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article written for non-tech people about AI. One line stuck with me:</a:t>
            </a:r>
            <a:endParaRPr lang="en-US" sz="21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2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dreams just got a lot closer - you can describe an app and have a working version in an hour.”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77240" y="5440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opened my eyes.   ( shumer.dev 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STORY #0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very first try bombed.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68680" y="2606040"/>
            <a:ext cx="2377440" cy="2377440"/>
          </a:xfrm>
          <a:prstGeom prst="ellipse">
            <a:avLst/>
          </a:prstGeom>
          <a:solidFill>
            <a:srgbClr val="FF547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0589" y="3247949"/>
            <a:ext cx="1093622" cy="10936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49040" y="26060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</a:t>
            </a:r>
            <a:pPr indent="0" marL="0">
              <a:buNone/>
            </a:pPr>
            <a:r>
              <a:rPr lang="en-US" sz="23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aspir.lovable.app</a:t>
            </a:r>
            <a:pPr indent="0" marL="0">
              <a:buNone/>
            </a:pPr>
            <a:r>
              <a:rPr lang="en-US" sz="23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an AI app-builder.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3749040" y="3520440"/>
            <a:ext cx="7635240" cy="1737360"/>
          </a:xfrm>
          <a:prstGeom prst="roundRect">
            <a:avLst>
              <a:gd name="adj" fmla="val 6316"/>
            </a:avLst>
          </a:prstGeom>
          <a:solidFill>
            <a:srgbClr val="FDE8EC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069080" y="352044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bombed - because I didn't even know you needed a thing called a </a:t>
            </a:r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“database” (Firebase)</a:t>
            </a:r>
            <a:pPr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actually save the data.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31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54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108960"/>
            <a:ext cx="6217920" cy="6217920"/>
          </a:xfrm>
          <a:prstGeom prst="ellipse">
            <a:avLst/>
          </a:prstGeom>
          <a:solidFill>
            <a:srgbClr val="FF6E86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777240"/>
            <a:ext cx="1920240" cy="19202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11887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1430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A1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THOUGHT THAT KEPT ME GOING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16916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E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didn't even know what a database was.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" y="288036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 can do this,</a:t>
            </a:r>
            <a:endParaRPr lang="en-US" sz="5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C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do something massive.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DID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tinkered. Every single day.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68680" y="2697480"/>
            <a:ext cx="2377440" cy="2377440"/>
          </a:xfrm>
          <a:prstGeom prst="ellipse">
            <a:avLst/>
          </a:prstGeom>
          <a:solidFill>
            <a:srgbClr val="FF6F0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0589" y="3339389"/>
            <a:ext cx="1093622" cy="10936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49040" y="2788920"/>
            <a:ext cx="7589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hour here, an hour there - every day, with AI at my side.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by bit, I came a long, long way.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749040" y="47091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article's advice was “one hour a day.”  I just... kept showing up.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31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554480"/>
            <a:ext cx="2468880" cy="2468880"/>
          </a:xfrm>
          <a:prstGeom prst="ellipse">
            <a:avLst/>
          </a:prstGeom>
          <a:solidFill>
            <a:srgbClr val="14C4B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9158" y="2221078"/>
            <a:ext cx="1135685" cy="11356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EVERYTHING CHANGED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1508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found Claude on my desktop.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77240" y="310896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D6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changed how I work every single day.</a:t>
            </a:r>
            <a:endParaRPr lang="en-US" sz="240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Honestly? I can't imagine working without it now.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31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6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657600"/>
            <a:ext cx="5486400" cy="5486400"/>
          </a:xfrm>
          <a:prstGeom prst="ellipse">
            <a:avLst/>
          </a:prstGeom>
          <a:solidFill>
            <a:srgbClr val="FF9A4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A1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PEN-AND-PAPER WORKSHEET...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what that holiday became.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3840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3A1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daily worksheet grew into a whole platform. Let me walk you through it.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DOES A NON-TECH FOUNDER EVEN DO?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whole job, in three words.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260604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2A2140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2926080"/>
            <a:ext cx="914400" cy="914400"/>
          </a:xfrm>
          <a:prstGeom prst="ellipse">
            <a:avLst/>
          </a:prstGeom>
          <a:solidFill>
            <a:srgbClr val="FF6F0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848" y="317296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023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051560" y="4617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“good” looks like - and what doesn't.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434840" y="260604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2A2140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23560" y="2926080"/>
            <a:ext cx="914400" cy="914400"/>
          </a:xfrm>
          <a:prstGeom prst="ellipse">
            <a:avLst/>
          </a:prstGeom>
          <a:solidFill>
            <a:srgbClr val="14C4B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317296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4023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709160" y="4617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to build, and what to kill.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092440" y="260604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2A2140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81160" y="2926080"/>
            <a:ext cx="914400" cy="914400"/>
          </a:xfrm>
          <a:prstGeom prst="ellipse">
            <a:avLst/>
          </a:prstGeom>
          <a:solidFill>
            <a:srgbClr val="FFC233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317296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4023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8366760" y="4617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everything. Then check it again.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31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6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5486400" cy="5486400"/>
          </a:xfrm>
          <a:prstGeom prst="ellipse">
            <a:avLst/>
          </a:prstGeom>
          <a:solidFill>
            <a:srgbClr val="FF9A4D"/>
          </a:solidFill>
          <a:ln/>
        </p:spPr>
      </p:sp>
      <p:sp>
        <p:nvSpPr>
          <p:cNvPr id="3" name="Shape 1"/>
          <p:cNvSpPr/>
          <p:nvPr/>
        </p:nvSpPr>
        <p:spPr>
          <a:xfrm>
            <a:off x="9738360" y="594360"/>
            <a:ext cx="1828800" cy="1828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10058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1887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A1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BELIEF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2331720"/>
            <a:ext cx="8686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need to write the code.</a:t>
            </a:r>
            <a:endParaRPr lang="en-US" sz="4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3A1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to know what </a:t>
            </a:r>
            <a:pPr indent="0" marL="0">
              <a:lnSpc>
                <a:spcPct val="104000"/>
              </a:lnSpc>
              <a:buNone/>
            </a:pPr>
            <a:r>
              <a:rPr lang="en-US" sz="4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“good”</a:t>
            </a:r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3A1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looks like - and refuse to ship anything less.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FIRST BIG SURPRISE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bet on the wrong hard part.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834640"/>
            <a:ext cx="960120" cy="960120"/>
          </a:xfrm>
          <a:prstGeom prst="ellipse">
            <a:avLst/>
          </a:prstGeom>
          <a:solidFill>
            <a:srgbClr val="6E668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309067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2971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6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THOUGHT was hard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41148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app. The screens. The buttons. The “tech.”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199632" y="246888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FFF3E6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2834640"/>
            <a:ext cx="960120" cy="960120"/>
          </a:xfrm>
          <a:prstGeom prst="ellipse">
            <a:avLst/>
          </a:prstGeom>
          <a:solidFill>
            <a:srgbClr val="FF6F0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3090672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2971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ACTUALLY hard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65392" y="41148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CONTENT. Getting 30,000 questions actually correct.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STORY #1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Watermelon Incident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2468880"/>
            <a:ext cx="2834640" cy="2834640"/>
          </a:xfrm>
          <a:prstGeom prst="ellipse">
            <a:avLst/>
          </a:prstGeom>
          <a:solidFill>
            <a:srgbClr val="3FB66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98448" y="2852928"/>
            <a:ext cx="2066544" cy="2066544"/>
          </a:xfrm>
          <a:prstGeom prst="ellipse">
            <a:avLst/>
          </a:prstGeom>
          <a:solidFill>
            <a:srgbClr val="FF5B5B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3383280"/>
            <a:ext cx="118872" cy="182880"/>
          </a:xfrm>
          <a:prstGeom prst="ellipse">
            <a:avLst/>
          </a:prstGeom>
          <a:solidFill>
            <a:srgbClr val="2B2233"/>
          </a:solidFill>
          <a:ln/>
        </p:spPr>
      </p:sp>
      <p:sp>
        <p:nvSpPr>
          <p:cNvPr id="7" name="Shape 5"/>
          <p:cNvSpPr/>
          <p:nvPr/>
        </p:nvSpPr>
        <p:spPr>
          <a:xfrm>
            <a:off x="2468880" y="3291840"/>
            <a:ext cx="118872" cy="182880"/>
          </a:xfrm>
          <a:prstGeom prst="ellipse">
            <a:avLst/>
          </a:prstGeom>
          <a:solidFill>
            <a:srgbClr val="2B2233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3840480"/>
            <a:ext cx="118872" cy="182880"/>
          </a:xfrm>
          <a:prstGeom prst="ellipse">
            <a:avLst/>
          </a:prstGeom>
          <a:solidFill>
            <a:srgbClr val="2B2233"/>
          </a:solidFill>
          <a:ln/>
        </p:spPr>
      </p:sp>
      <p:sp>
        <p:nvSpPr>
          <p:cNvPr id="9" name="Shape 7"/>
          <p:cNvSpPr/>
          <p:nvPr/>
        </p:nvSpPr>
        <p:spPr>
          <a:xfrm>
            <a:off x="2651760" y="3931920"/>
            <a:ext cx="118872" cy="182880"/>
          </a:xfrm>
          <a:prstGeom prst="ellipse">
            <a:avLst/>
          </a:prstGeom>
          <a:solidFill>
            <a:srgbClr val="2B2233"/>
          </a:solidFill>
          <a:ln/>
        </p:spPr>
      </p:sp>
      <p:sp>
        <p:nvSpPr>
          <p:cNvPr id="10" name="Shape 8"/>
          <p:cNvSpPr/>
          <p:nvPr/>
        </p:nvSpPr>
        <p:spPr>
          <a:xfrm>
            <a:off x="2240280" y="4343400"/>
            <a:ext cx="118872" cy="182880"/>
          </a:xfrm>
          <a:prstGeom prst="ellipse">
            <a:avLst/>
          </a:prstGeom>
          <a:solidFill>
            <a:srgbClr val="2B2233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2514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“Raju has 7 watermelons.</a:t>
            </a:r>
            <a:endParaRPr lang="en-US" sz="2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gets 5 more.”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4297680" y="379476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E8F8EE"/>
          </a:solidFill>
          <a:ln w="19050">
            <a:solidFill>
              <a:srgbClr val="3FB6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37947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answer:  </a:t>
            </a:r>
            <a:pPr indent="0" marL="0">
              <a:buNone/>
            </a:pPr>
            <a:r>
              <a:rPr lang="en-US" sz="1900" b="1" dirty="0">
                <a:solidFill>
                  <a:srgbClr val="3F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+ 5 = 12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863840" y="3794760"/>
            <a:ext cx="3474720" cy="868680"/>
          </a:xfrm>
          <a:prstGeom prst="roundRect">
            <a:avLst>
              <a:gd name="adj" fmla="val 12632"/>
            </a:avLst>
          </a:prstGeom>
          <a:solidFill>
            <a:srgbClr val="FDE8EC"/>
          </a:solidFill>
          <a:ln w="19050">
            <a:solidFill>
              <a:srgbClr val="FF54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37947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app's key said:  </a:t>
            </a:r>
            <a:pPr indent="0" marL="0">
              <a:buNone/>
            </a:pPr>
            <a:r>
              <a:rPr lang="en-US" sz="19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297680" y="4892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doing it RIGHT were being told they were WRONG.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31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463040"/>
            <a:ext cx="2468880" cy="2468880"/>
          </a:xfrm>
          <a:prstGeom prst="ellipse">
            <a:avLst/>
          </a:prstGeom>
          <a:solidFill>
            <a:srgbClr val="14C4B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9158" y="2129638"/>
            <a:ext cx="1135685" cy="11356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972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LESSON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15087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assume the answer is right.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77240" y="338328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D6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built little programs that re-do the math and catch wrong answer keys.</a:t>
            </a:r>
            <a:endParaRPr lang="en-US" sz="23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1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found a whole pile of them.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77240" y="5303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quality is the moat. Anyone can wrap an AI; almost nobody does the boring correctness work.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31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GOT WORSE BEFORE IT GOT BETTER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found 23 species of content bug.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219456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578608"/>
            <a:ext cx="914400" cy="914400"/>
          </a:xfrm>
          <a:prstGeom prst="ellipse">
            <a:avLst/>
          </a:prstGeom>
          <a:solidFill>
            <a:srgbClr val="1E1633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825496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4505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Filler Monster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57400" y="2907792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fluff glued before the real question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219456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578608"/>
            <a:ext cx="914400" cy="914400"/>
          </a:xfrm>
          <a:prstGeom prst="ellipse">
            <a:avLst/>
          </a:prstGeom>
          <a:solidFill>
            <a:srgbClr val="1E1633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825496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24505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Figure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15000" y="2907792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“see the picture” - but there is no picture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92440" y="219456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578608"/>
            <a:ext cx="914400" cy="914400"/>
          </a:xfrm>
          <a:prstGeom prst="ellipse">
            <a:avLst/>
          </a:prstGeom>
          <a:solidFill>
            <a:srgbClr val="1E1633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825496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72600" y="24505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Spoiler Diagram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372600" y="2907792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figure quietly gives away the answer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77240" y="406908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5840" y="4453128"/>
            <a:ext cx="914400" cy="914400"/>
          </a:xfrm>
          <a:prstGeom prst="ellipse">
            <a:avLst/>
          </a:prstGeom>
          <a:solidFill>
            <a:srgbClr val="1E1633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4700016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057400" y="43251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Leaky Hint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2057400" y="4782312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hint just tells you the answer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34840" y="406908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4453128"/>
            <a:ext cx="914400" cy="914400"/>
          </a:xfrm>
          <a:prstGeom prst="ellipse">
            <a:avLst/>
          </a:prstGeom>
          <a:solidFill>
            <a:srgbClr val="1E1633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4700016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715000" y="43251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Army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5715000" y="4782312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question, a thousand times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92440" y="406908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453128"/>
            <a:ext cx="914400" cy="914400"/>
          </a:xfrm>
          <a:prstGeom prst="ellipse">
            <a:avLst/>
          </a:prstGeom>
          <a:solidFill>
            <a:srgbClr val="1E1633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928" y="4700016"/>
            <a:ext cx="420624" cy="4206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72600" y="43251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Key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9372600" y="4782312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watermelon problem, everywhere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31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C4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6400800" cy="6400800"/>
          </a:xfrm>
          <a:prstGeom prst="ellipse">
            <a:avLst/>
          </a:prstGeom>
          <a:solidFill>
            <a:srgbClr val="30D0BE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828800"/>
            <a:ext cx="2468880" cy="2468880"/>
          </a:xfrm>
          <a:prstGeom prst="ellipse">
            <a:avLst/>
          </a:prstGeom>
          <a:solidFill>
            <a:srgbClr val="1E1633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6278" y="2495398"/>
            <a:ext cx="1135685" cy="11356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0972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A4F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FIX 30,000 OF ANYTHING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1508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every bug into a robot.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77240" y="310896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300" dirty="0">
                <a:solidFill>
                  <a:srgbClr val="054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can't read 30,000 questions. So each bug we found became a tiny detector - a robot that finds that bug forever.</a:t>
            </a:r>
            <a:endParaRPr lang="en-US" sz="23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robots, fix what they flag, run again - until ZERO.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31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COUNTER-INTUITIVE BIT (YOU'LL LIKE THIS)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rocket - but you still steer.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651760"/>
            <a:ext cx="2286000" cy="2286000"/>
          </a:xfrm>
          <a:prstGeom prst="ellipse">
            <a:avLst/>
          </a:prstGeom>
          <a:solidFill>
            <a:srgbClr val="FF547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326898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0" y="26974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solve a hard problem and it will answer... confidently... and sometimes completely wrong.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657600" y="4160520"/>
            <a:ext cx="7680960" cy="1417320"/>
          </a:xfrm>
          <a:prstGeom prst="roundRect">
            <a:avLst>
              <a:gd name="adj" fmla="val 7742"/>
            </a:avLst>
          </a:prstGeom>
          <a:solidFill>
            <a:srgbClr val="FFF3E6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977640" y="4434840"/>
            <a:ext cx="868680" cy="868680"/>
          </a:xfrm>
          <a:prstGeom prst="ellipse">
            <a:avLst/>
          </a:prstGeom>
          <a:solidFill>
            <a:srgbClr val="FF6F0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4672584"/>
            <a:ext cx="393192" cy="3931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74920" y="4160520"/>
            <a:ext cx="6126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rule:  </a:t>
            </a:r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COPIES from real sources. It never invents the answer.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31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MAKE IT SMART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that adapts to you.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914400" y="5440680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1328" y="4873752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FE9CC"/>
          </a:solidFill>
          <a:ln w="12700">
            <a:solidFill>
              <a:srgbClr val="E5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48256" y="4306824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FD89E"/>
          </a:solidFill>
          <a:ln w="12700">
            <a:solidFill>
              <a:srgbClr val="E5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15184" y="3739896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F9A4D"/>
          </a:solidFill>
          <a:ln w="12700">
            <a:solidFill>
              <a:srgbClr val="E5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82112" y="3172968"/>
            <a:ext cx="2286000" cy="512064"/>
          </a:xfrm>
          <a:prstGeom prst="roundRect">
            <a:avLst>
              <a:gd name="adj" fmla="val 14286"/>
            </a:avLst>
          </a:prstGeom>
          <a:solidFill>
            <a:srgbClr val="FF6F00"/>
          </a:solidFill>
          <a:ln w="12700">
            <a:solidFill>
              <a:srgbClr val="E5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2194560"/>
            <a:ext cx="731520" cy="731520"/>
          </a:xfrm>
          <a:prstGeom prst="ellipse">
            <a:avLst/>
          </a:prstGeom>
          <a:solidFill>
            <a:srgbClr val="3FB66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1528" y="239572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15000" y="2468880"/>
            <a:ext cx="5852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the questions that are the “same idea.”</a:t>
            </a:r>
            <a:endParaRPr lang="en-US" sz="21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 right, climb to a harder idea.</a:t>
            </a:r>
            <a:endParaRPr lang="en-US" sz="21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 wrong, drill easier ones till it clicks.</a:t>
            </a:r>
            <a:endParaRPr lang="en-US" sz="21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exactly where you are - forever.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31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KIDS A REASON TO COME BACK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 layer.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2A2140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6192" y="2788920"/>
            <a:ext cx="1005840" cy="1005840"/>
          </a:xfrm>
          <a:prstGeom prst="ellipse">
            <a:avLst/>
          </a:prstGeom>
          <a:solidFill>
            <a:srgbClr val="FF6F0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4" y="30449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0233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3566160" y="246888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2A2140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25112" y="2788920"/>
            <a:ext cx="1005840" cy="1005840"/>
          </a:xfrm>
          <a:prstGeom prst="ellipse">
            <a:avLst/>
          </a:prstGeom>
          <a:solidFill>
            <a:srgbClr val="FF547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304495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40233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Streaks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355080" y="246888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2A2140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114032" y="2788920"/>
            <a:ext cx="1005840" cy="1005840"/>
          </a:xfrm>
          <a:prstGeom prst="ellipse">
            <a:avLst/>
          </a:prstGeom>
          <a:solidFill>
            <a:srgbClr val="FFC233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304495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5080" y="40233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contest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9144000" y="246888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2A2140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902952" y="2788920"/>
            <a:ext cx="1005840" cy="1005840"/>
          </a:xfrm>
          <a:prstGeom prst="ellipse">
            <a:avLst/>
          </a:prstGeom>
          <a:solidFill>
            <a:srgbClr val="14C4B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984" y="3044952"/>
            <a:ext cx="493776" cy="4937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0" y="40233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Leagues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777240" y="5074920"/>
            <a:ext cx="10607040" cy="868680"/>
          </a:xfrm>
          <a:prstGeom prst="roundRect">
            <a:avLst>
              <a:gd name="adj" fmla="val 12632"/>
            </a:avLst>
          </a:prstGeom>
          <a:solidFill>
            <a:srgbClr val="3A1E00"/>
          </a:solidFill>
          <a:ln/>
        </p:spPr>
      </p:sp>
      <p:sp>
        <p:nvSpPr>
          <p:cNvPr id="21" name="Text 15"/>
          <p:cNvSpPr/>
          <p:nvPr/>
        </p:nvSpPr>
        <p:spPr>
          <a:xfrm>
            <a:off x="777240" y="50749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 that never bends:  </a:t>
            </a:r>
            <a:pPr algn="ctr" indent="0" marL="0">
              <a:buNone/>
            </a:pPr>
            <a:r>
              <a:rPr lang="en-US" sz="20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never buys rank.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31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PIVOT: DON'T STOP AT QUESTIONS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Library.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25146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2880360"/>
            <a:ext cx="1005840" cy="1005840"/>
          </a:xfrm>
          <a:prstGeom prst="ellipse">
            <a:avLst/>
          </a:prstGeom>
          <a:solidFill>
            <a:srgbClr val="FF6F0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6272" y="313639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069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4617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 papers, page-perfect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34840" y="25146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2880360"/>
            <a:ext cx="1005840" cy="1005840"/>
          </a:xfrm>
          <a:prstGeom prst="ellipse">
            <a:avLst/>
          </a:prstGeom>
          <a:solidFill>
            <a:srgbClr val="14C4B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313639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4069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Authored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709160" y="4617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I wrote from scratch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92440" y="25146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35440" y="2880360"/>
            <a:ext cx="1005840" cy="1005840"/>
          </a:xfrm>
          <a:prstGeom prst="ellipse">
            <a:avLst/>
          </a:prstGeom>
          <a:solidFill>
            <a:srgbClr val="FF547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2" y="313639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4069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366760" y="4617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you answer INSIDE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31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STORY #2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Reader Saga.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read books in the app, I tried three ready-made reader engines.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77240" y="26974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DE8EC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0" y="292608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926080"/>
            <a:ext cx="868680" cy="868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840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#1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566160" y="26974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DE8EC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292608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926080"/>
            <a:ext cx="868680" cy="868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840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#2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355080" y="269748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DE8EC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78040" y="2926080"/>
            <a:ext cx="868680" cy="8686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926080"/>
            <a:ext cx="868680" cy="8686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38404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#3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9098280" y="33101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fought back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77240" y="4709160"/>
            <a:ext cx="10607040" cy="1325880"/>
          </a:xfrm>
          <a:prstGeom prst="roundRect">
            <a:avLst>
              <a:gd name="adj" fmla="val 8276"/>
            </a:avLst>
          </a:prstGeom>
          <a:solidFill>
            <a:srgbClr val="E8F8EE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51560" y="4937760"/>
            <a:ext cx="868680" cy="868680"/>
          </a:xfrm>
          <a:prstGeom prst="ellipse">
            <a:avLst/>
          </a:prstGeom>
          <a:solidFill>
            <a:srgbClr val="3FB66A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" y="5175504"/>
            <a:ext cx="393192" cy="3931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148840" y="4709160"/>
            <a:ext cx="9052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built our own.  </a:t>
            </a:r>
            <a:pPr indent="0" marL="0">
              <a:buNone/>
            </a:pPr>
            <a:r>
              <a:rPr lang="en-US" sz="2000" i="1" dirty="0">
                <a:solidFill>
                  <a:srgbClr val="3FB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you stop renting and build your own house.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371600"/>
            <a:ext cx="2377440" cy="2377440"/>
          </a:xfrm>
          <a:prstGeom prst="ellipse">
            <a:avLst/>
          </a:prstGeom>
          <a:solidFill>
            <a:srgbClr val="FF547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5909" y="2013509"/>
            <a:ext cx="1093622" cy="1093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058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STORY #3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Great Reversal.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77240" y="2514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</a:t>
            </a:r>
            <a:pPr indent="0" marL="0">
              <a:buNone/>
            </a:pPr>
            <a:r>
              <a:rPr lang="en-US" sz="5400" dirty="0">
                <a:solidFill>
                  <a:srgbClr val="9A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to   </a:t>
            </a:r>
            <a:pPr indent="0" marL="0">
              <a:buNone/>
            </a:pPr>
            <a:r>
              <a:rPr lang="en-US" sz="54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77240" y="36576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D6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imported 1,000+ ready-made questions, then deleted every one.</a:t>
            </a:r>
            <a:endParaRPr lang="en-US" sz="21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2100" dirty="0">
                <a:solidFill>
                  <a:srgbClr val="D6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phone they looked unfinished. So they live only in the books now.</a:t>
            </a:r>
            <a:endParaRPr lang="en-US" sz="21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Killing your own work is a skill, not a failure.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31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CHANGED MY MIND A LOT - ON PURPOSE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pivot made it sharper.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581912" y="2414016"/>
            <a:ext cx="457200" cy="45720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5" name="Text 3"/>
          <p:cNvSpPr/>
          <p:nvPr/>
        </p:nvSpPr>
        <p:spPr>
          <a:xfrm>
            <a:off x="1581912" y="2414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2057400" cy="1783080"/>
          </a:xfrm>
          <a:prstGeom prst="roundRect">
            <a:avLst>
              <a:gd name="adj" fmla="val 6154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1821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404164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822192" y="2414016"/>
            <a:ext cx="457200" cy="45720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1" name="Text 9"/>
          <p:cNvSpPr/>
          <p:nvPr/>
        </p:nvSpPr>
        <p:spPr>
          <a:xfrm>
            <a:off x="3822192" y="2414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17520" y="3017520"/>
            <a:ext cx="2057400" cy="1783080"/>
          </a:xfrm>
          <a:prstGeom prst="roundRect">
            <a:avLst>
              <a:gd name="adj" fmla="val 6154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0" y="31821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35661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108960" y="404164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62472" y="2414016"/>
            <a:ext cx="457200" cy="45720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17" name="Text 15"/>
          <p:cNvSpPr/>
          <p:nvPr/>
        </p:nvSpPr>
        <p:spPr>
          <a:xfrm>
            <a:off x="6062472" y="2414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57800" y="3017520"/>
            <a:ext cx="2057400" cy="1783080"/>
          </a:xfrm>
          <a:prstGeom prst="roundRect">
            <a:avLst>
              <a:gd name="adj" fmla="val 6154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49240" y="31821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Rented reader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57800" y="35661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49240" y="404164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reader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302752" y="2414016"/>
            <a:ext cx="457200" cy="45720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23" name="Text 21"/>
          <p:cNvSpPr/>
          <p:nvPr/>
        </p:nvSpPr>
        <p:spPr>
          <a:xfrm>
            <a:off x="8302752" y="2414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98080" y="3017520"/>
            <a:ext cx="2057400" cy="1783080"/>
          </a:xfrm>
          <a:prstGeom prst="roundRect">
            <a:avLst>
              <a:gd name="adj" fmla="val 6154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89520" y="31821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subjects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98080" y="35661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89520" y="404164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subjects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0543032" y="2414016"/>
            <a:ext cx="457200" cy="45720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29" name="Text 27"/>
          <p:cNvSpPr/>
          <p:nvPr/>
        </p:nvSpPr>
        <p:spPr>
          <a:xfrm>
            <a:off x="10543032" y="2414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738360" y="3017520"/>
            <a:ext cx="2057400" cy="1783080"/>
          </a:xfrm>
          <a:prstGeom prst="roundRect">
            <a:avLst>
              <a:gd name="adj" fmla="val 6154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829800" y="318211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738360" y="35661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829800" y="404164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platform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77240" y="53035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tiny, kill what doesn't work, keep stacking - that's how one app became a platform.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31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6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291840"/>
            <a:ext cx="5943600" cy="5943600"/>
          </a:xfrm>
          <a:prstGeom prst="ellipse">
            <a:avLst/>
          </a:prstGeom>
          <a:solidFill>
            <a:srgbClr val="FF9A4D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914400"/>
            <a:ext cx="2286000" cy="22860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132588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3716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A1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HALFWAY THROUGH, IT HIT ME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3A1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engine is actually about </a:t>
            </a:r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math.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77240" y="36576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 operating system for learning that just happens to be full of math.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31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315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layers. Only the top knows the subject.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7955280" cy="786384"/>
          </a:xfrm>
          <a:prstGeom prst="roundRect">
            <a:avLst>
              <a:gd name="adj" fmla="val 11628"/>
            </a:avLst>
          </a:prstGeom>
          <a:solidFill>
            <a:srgbClr val="FF6F00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68880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286000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886200" y="2286000"/>
            <a:ext cx="4663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answers, the subject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15400" y="2286000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it's math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3218688"/>
            <a:ext cx="7955280" cy="786384"/>
          </a:xfrm>
          <a:prstGeom prst="roundRect">
            <a:avLst>
              <a:gd name="adj" fmla="val 11628"/>
            </a:avLst>
          </a:prstGeom>
          <a:solidFill>
            <a:srgbClr val="FF5470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401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218688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3886200" y="3218688"/>
            <a:ext cx="4663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+ the reader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77240" y="4151376"/>
            <a:ext cx="7955280" cy="786384"/>
          </a:xfrm>
          <a:prstGeom prst="roundRect">
            <a:avLst>
              <a:gd name="adj" fmla="val 11628"/>
            </a:avLst>
          </a:prstGeom>
          <a:solidFill>
            <a:srgbClr val="14C4B0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3342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51376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3886200" y="4151376"/>
            <a:ext cx="4663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- economy - contests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915400" y="4151376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subject-blind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77240" y="5084064"/>
            <a:ext cx="7955280" cy="786384"/>
          </a:xfrm>
          <a:prstGeom prst="roundRect">
            <a:avLst>
              <a:gd name="adj" fmla="val 11628"/>
            </a:avLst>
          </a:prstGeom>
          <a:solidFill>
            <a:srgbClr val="2A2140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26694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5084064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3886200" y="5084064"/>
            <a:ext cx="4663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 kids touch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top layer and you've changed subjects. The bottom three don't care.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31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MEANS...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once. Ship many.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05840" y="2926080"/>
            <a:ext cx="2011680" cy="2011680"/>
          </a:xfrm>
          <a:prstGeom prst="ellipse">
            <a:avLst/>
          </a:prstGeom>
          <a:solidFill>
            <a:srgbClr val="14C4B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994" y="3469234"/>
            <a:ext cx="925373" cy="9253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200400" y="32004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4572000" y="2743200"/>
            <a:ext cx="2148840" cy="2286000"/>
          </a:xfrm>
          <a:prstGeom prst="roundRect">
            <a:avLst>
              <a:gd name="adj" fmla="val 5106"/>
            </a:avLst>
          </a:prstGeom>
          <a:solidFill>
            <a:srgbClr val="2A2140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84648" y="3017520"/>
            <a:ext cx="914400" cy="914400"/>
          </a:xfrm>
          <a:prstGeom prst="ellipse">
            <a:avLst/>
          </a:prstGeom>
          <a:solidFill>
            <a:srgbClr val="FF6F0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536" y="326440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41605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JEE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6949440" y="2743200"/>
            <a:ext cx="2148840" cy="2286000"/>
          </a:xfrm>
          <a:prstGeom prst="roundRect">
            <a:avLst>
              <a:gd name="adj" fmla="val 5106"/>
            </a:avLst>
          </a:prstGeom>
          <a:solidFill>
            <a:srgbClr val="2A2140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562088" y="3017520"/>
            <a:ext cx="914400" cy="914400"/>
          </a:xfrm>
          <a:prstGeom prst="ellipse">
            <a:avLst/>
          </a:prstGeom>
          <a:solidFill>
            <a:srgbClr val="FF547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76" y="326440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1605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NEET</a:t>
            </a:r>
            <a:endParaRPr lang="en-US" sz="2100" dirty="0"/>
          </a:p>
        </p:txBody>
      </p:sp>
      <p:sp>
        <p:nvSpPr>
          <p:cNvPr id="16" name="Shape 11"/>
          <p:cNvSpPr/>
          <p:nvPr/>
        </p:nvSpPr>
        <p:spPr>
          <a:xfrm>
            <a:off x="9326880" y="2743200"/>
            <a:ext cx="2148840" cy="2286000"/>
          </a:xfrm>
          <a:prstGeom prst="roundRect">
            <a:avLst>
              <a:gd name="adj" fmla="val 5106"/>
            </a:avLst>
          </a:prstGeom>
          <a:solidFill>
            <a:srgbClr val="2A2140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939528" y="3017520"/>
            <a:ext cx="914400" cy="914400"/>
          </a:xfrm>
          <a:prstGeom prst="ellipse">
            <a:avLst/>
          </a:prstGeom>
          <a:solidFill>
            <a:srgbClr val="FFC233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6416" y="326440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26880" y="41605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exam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same library, same games - just swap the content.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31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FOR 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science, a computer can't check the answer.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788920"/>
            <a:ext cx="914400" cy="914400"/>
          </a:xfrm>
          <a:prstGeom prst="ellipse">
            <a:avLst/>
          </a:prstGeom>
          <a:solidFill>
            <a:srgbClr val="14C4B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303580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4688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builds the MACHINE.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199632" y="246888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19672" y="2788920"/>
            <a:ext cx="914400" cy="914400"/>
          </a:xfrm>
          <a:prstGeom prst="ellipse">
            <a:avLst/>
          </a:prstGeom>
          <a:solidFill>
            <a:srgbClr val="FF6F0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03580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0" y="24688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+ real sources supply the TRUTH.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777240" y="4617720"/>
            <a:ext cx="10607040" cy="1188720"/>
          </a:xfrm>
          <a:prstGeom prst="roundRect">
            <a:avLst>
              <a:gd name="adj" fmla="val 9231"/>
            </a:avLst>
          </a:prstGeom>
          <a:solidFill>
            <a:srgbClr val="1E1633"/>
          </a:solidFill>
          <a:ln/>
        </p:spPr>
      </p:sp>
      <p:sp>
        <p:nvSpPr>
          <p:cNvPr id="13" name="Text 9"/>
          <p:cNvSpPr/>
          <p:nvPr/>
        </p:nvSpPr>
        <p:spPr>
          <a:xfrm>
            <a:off x="1097280" y="46177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C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secret weapon:  </a:t>
            </a:r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Vedantu's expert faculty are the truth-check an AI can never fake.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31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6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7C335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9144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SO... WHAT WAS MY JOB?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Decide. Taste. Say no. Check.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77240" y="2697480"/>
            <a:ext cx="457200" cy="457200"/>
          </a:xfrm>
          <a:prstGeom prst="ellipse">
            <a:avLst/>
          </a:prstGeom>
          <a:solidFill>
            <a:srgbClr val="FFC2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651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 </a:t>
            </a:r>
            <a:pPr indent="0" marL="0">
              <a:buNone/>
            </a:pPr>
            <a:r>
              <a:rPr lang="en-US" sz="2100" dirty="0">
                <a:solidFill>
                  <a:srgbClr val="F0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what gets built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263640" y="2697480"/>
            <a:ext cx="457200" cy="457200"/>
          </a:xfrm>
          <a:prstGeom prst="ellipse">
            <a:avLst/>
          </a:prstGeom>
          <a:solidFill>
            <a:srgbClr val="FFC233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03720" y="2651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taste  </a:t>
            </a:r>
            <a:pPr indent="0" marL="0">
              <a:buNone/>
            </a:pPr>
            <a:r>
              <a:rPr lang="en-US" sz="2100" dirty="0">
                <a:solidFill>
                  <a:srgbClr val="F0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know good from bad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rgbClr val="FFC23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8862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NO  </a:t>
            </a:r>
            <a:pPr indent="0" marL="0">
              <a:buNone/>
            </a:pPr>
            <a:r>
              <a:rPr lang="en-US" sz="2100" dirty="0">
                <a:solidFill>
                  <a:srgbClr val="F0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kill the weak stuff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263640" y="3931920"/>
            <a:ext cx="457200" cy="457200"/>
          </a:xfrm>
          <a:prstGeom prst="ellipse">
            <a:avLst/>
          </a:prstGeom>
          <a:solidFill>
            <a:srgbClr val="FFC233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38862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obsessively  </a:t>
            </a:r>
            <a:pPr indent="0" marL="0">
              <a:buNone/>
            </a:pPr>
            <a:r>
              <a:rPr lang="en-US" sz="2100" dirty="0">
                <a:solidFill>
                  <a:srgbClr val="F0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be slow and certain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C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out... that's the whole job. You don't have to code to build something deep.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31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STANDS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worksheet... to an OS.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260604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30632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~30,000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60120" y="42062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cleaned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66160" y="260604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30632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C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749040" y="42062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in the library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260604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30632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37960" y="42062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 live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0" y="260604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F4F1FA"/>
          </a:solidFill>
          <a:ln w="12700">
            <a:solidFill>
              <a:srgbClr val="E5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440" y="30632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21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many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326880" y="42062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from one engine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from a holiday worksheet and an hour of tinkering a day.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31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023360"/>
            <a:ext cx="5486400" cy="5486400"/>
          </a:xfrm>
          <a:prstGeom prst="ellipse">
            <a:avLst/>
          </a:prstGeom>
          <a:solidFill>
            <a:srgbClr val="2A214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315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REMEMBER FOUR THINGS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these home.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676656" cy="676656"/>
          </a:xfrm>
          <a:prstGeom prst="ellipse">
            <a:avLst/>
          </a:prstGeom>
          <a:solidFill>
            <a:srgbClr val="14C4B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51460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331720"/>
            <a:ext cx="9601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tiny, pivot fast, keep stacking.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822960" y="3227832"/>
            <a:ext cx="676656" cy="676656"/>
          </a:xfrm>
          <a:prstGeom prst="ellipse">
            <a:avLst/>
          </a:prstGeom>
          <a:solidFill>
            <a:srgbClr val="FF6F0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4107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3227832"/>
            <a:ext cx="9601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quality is the real moat.</a:t>
            </a:r>
            <a:endParaRPr lang="en-US" sz="2300" dirty="0"/>
          </a:p>
        </p:txBody>
      </p:sp>
      <p:sp>
        <p:nvSpPr>
          <p:cNvPr id="11" name="Shape 7"/>
          <p:cNvSpPr/>
          <p:nvPr/>
        </p:nvSpPr>
        <p:spPr>
          <a:xfrm>
            <a:off x="822960" y="4123944"/>
            <a:ext cx="676656" cy="676656"/>
          </a:xfrm>
          <a:prstGeom prst="ellipse">
            <a:avLst/>
          </a:prstGeom>
          <a:solidFill>
            <a:srgbClr val="FFC233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30682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37360" y="4123944"/>
            <a:ext cx="9601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mistake into a robot.</a:t>
            </a:r>
            <a:endParaRPr lang="en-US" sz="2300" dirty="0"/>
          </a:p>
        </p:txBody>
      </p:sp>
      <p:sp>
        <p:nvSpPr>
          <p:cNvPr id="14" name="Shape 9"/>
          <p:cNvSpPr/>
          <p:nvPr/>
        </p:nvSpPr>
        <p:spPr>
          <a:xfrm>
            <a:off x="822960" y="5020056"/>
            <a:ext cx="676656" cy="676656"/>
          </a:xfrm>
          <a:prstGeom prst="ellipse">
            <a:avLst/>
          </a:prstGeom>
          <a:solidFill>
            <a:srgbClr val="FF5470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202936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37360" y="5020056"/>
            <a:ext cx="9601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 with AI one hour a day.</a:t>
            </a:r>
            <a:endParaRPr lang="en-US" sz="2300" dirty="0"/>
          </a:p>
        </p:txBody>
      </p:sp>
      <p:sp>
        <p:nvSpPr>
          <p:cNvPr id="17" name="Text 11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31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54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108960"/>
            <a:ext cx="6217920" cy="6217920"/>
          </a:xfrm>
          <a:prstGeom prst="ellipse">
            <a:avLst/>
          </a:prstGeom>
          <a:solidFill>
            <a:srgbClr val="FF6E86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731520"/>
            <a:ext cx="1920240" cy="19202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1115568"/>
            <a:ext cx="1152144" cy="1152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05156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A1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HOLIDAY. A PEN. AN APP THAT BOMBED.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1600200"/>
            <a:ext cx="10241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 can build this,</a:t>
            </a:r>
            <a:endParaRPr lang="en-US" sz="5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C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do something massive.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777240" y="4206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Start. Tinker an hour a day. You're already ahead.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77240" y="5212080"/>
            <a:ext cx="4754880" cy="777240"/>
          </a:xfrm>
          <a:prstGeom prst="roundRect">
            <a:avLst>
              <a:gd name="adj" fmla="val 49412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52120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 (Be gentle.)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 OS - the journey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725912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 OS - The Journey</dc:title>
  <dc:subject>PptxGenJS Presentation</dc:subject>
  <dc:creator>Anand Prakash</dc:creator>
  <cp:lastModifiedBy>Anand Prakash</cp:lastModifiedBy>
  <cp:revision>1</cp:revision>
  <dcterms:created xsi:type="dcterms:W3CDTF">2026-06-25T06:00:39Z</dcterms:created>
  <dcterms:modified xsi:type="dcterms:W3CDTF">2026-06-25T06:00:39Z</dcterms:modified>
</cp:coreProperties>
</file>